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58" r:id="rId6"/>
    <p:sldId id="259" r:id="rId7"/>
    <p:sldId id="261" r:id="rId8"/>
    <p:sldId id="267" r:id="rId9"/>
    <p:sldId id="268" r:id="rId10"/>
    <p:sldId id="269" r:id="rId11"/>
    <p:sldId id="270" r:id="rId12"/>
    <p:sldId id="264"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9" autoAdjust="0"/>
  </p:normalViewPr>
  <p:slideViewPr>
    <p:cSldViewPr snapToGrid="0">
      <p:cViewPr varScale="1">
        <p:scale>
          <a:sx n="79" d="100"/>
          <a:sy n="79" d="100"/>
        </p:scale>
        <p:origin x="802"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2/15/2026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2/15/2026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2/15/2026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2/15/2026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2/15/2026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2/15/2026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2/15/2026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Recursive language models</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dirty="0"/>
              <a:t>NAVITA SINGH</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Motivation: </a:t>
            </a:r>
            <a:r>
              <a:rPr lang="en-CA" dirty="0"/>
              <a:t>context rot</a:t>
            </a:r>
            <a:endParaRPr dirty="0"/>
          </a:p>
        </p:txBody>
      </p:sp>
      <p:sp>
        <p:nvSpPr>
          <p:cNvPr id="3" name="Content Placeholder 2"/>
          <p:cNvSpPr>
            <a:spLocks noGrp="1"/>
          </p:cNvSpPr>
          <p:nvPr>
            <p:ph idx="1"/>
          </p:nvPr>
        </p:nvSpPr>
        <p:spPr/>
        <p:txBody>
          <a:bodyPr>
            <a:normAutofit fontScale="85000" lnSpcReduction="20000"/>
          </a:bodyPr>
          <a:lstStyle/>
          <a:p>
            <a:r>
              <a:rPr lang="en-US" dirty="0"/>
              <a:t>Context rot, also called context drift or fragmentation, refers to the degradation of a Large Language Model's (LLM) performance as a conversation grows longer. </a:t>
            </a:r>
          </a:p>
          <a:p>
            <a:pPr marL="0" indent="0">
              <a:buNone/>
            </a:pPr>
            <a:endParaRPr lang="en-US" dirty="0"/>
          </a:p>
          <a:p>
            <a:pPr marL="0" indent="0">
              <a:buNone/>
            </a:pPr>
            <a:r>
              <a:rPr lang="en-US" dirty="0"/>
              <a:t>Key factors contributing to this include:</a:t>
            </a:r>
          </a:p>
          <a:p>
            <a:pPr marL="0" indent="0">
              <a:buNone/>
            </a:pPr>
            <a:endParaRPr lang="en-US" dirty="0"/>
          </a:p>
          <a:p>
            <a:r>
              <a:rPr lang="en-US" b="1" dirty="0"/>
              <a:t>Attention Dilution:</a:t>
            </a:r>
            <a:r>
              <a:rPr lang="en-US" dirty="0"/>
              <a:t> As context length increases, the model’s attention is distributed across thousands of tokens. As a result, critical instructions provided early in the prompt may gradually lose salience as additional information accumulates.</a:t>
            </a:r>
          </a:p>
          <a:p>
            <a:pPr marL="0" indent="0">
              <a:buNone/>
            </a:pPr>
            <a:endParaRPr lang="en-US" dirty="0"/>
          </a:p>
          <a:p>
            <a:r>
              <a:rPr lang="en-US" b="1" dirty="0"/>
              <a:t>“Lost in the Middle” Effect:</a:t>
            </a:r>
            <a:r>
              <a:rPr lang="en-US" dirty="0"/>
              <a:t> Empirical research indicates that large language models exhibit strong recall for information presented at the beginning and the end of a prompt, while information embedded deep within lengthy contexts is more likely to be overlooked or underutilized.</a:t>
            </a:r>
          </a:p>
          <a:p>
            <a:pPr marL="0" indent="0">
              <a:buNone/>
            </a:pPr>
            <a:endParaRPr lang="en-US" dirty="0"/>
          </a:p>
          <a:p>
            <a:r>
              <a:rPr lang="en-US" b="1" dirty="0"/>
              <a:t>Hallucination Cascades:</a:t>
            </a:r>
            <a:r>
              <a:rPr lang="en-US" dirty="0"/>
              <a:t> When a model introduces an initial error that persists in the conversational history, subsequent responses may implicitly treat that error as factual. Over time, this can lead to compounding errors and progressive degradation of reasoning quality.</a:t>
            </a:r>
          </a:p>
          <a:p>
            <a:endParaRPr dirty="0"/>
          </a:p>
        </p:txBody>
      </p:sp>
      <p:sp>
        <p:nvSpPr>
          <p:cNvPr id="5" name="TextBox 4">
            <a:extLst>
              <a:ext uri="{FF2B5EF4-FFF2-40B4-BE49-F238E27FC236}">
                <a16:creationId xmlns:a16="http://schemas.microsoft.com/office/drawing/2014/main" id="{2B3C7C00-0F79-4BB3-ADCB-76253CA39E07}"/>
              </a:ext>
            </a:extLst>
          </p:cNvPr>
          <p:cNvSpPr txBox="1"/>
          <p:nvPr/>
        </p:nvSpPr>
        <p:spPr>
          <a:xfrm>
            <a:off x="457200" y="67502"/>
            <a:ext cx="2412460" cy="369332"/>
          </a:xfrm>
          <a:prstGeom prst="rect">
            <a:avLst/>
          </a:prstGeom>
          <a:noFill/>
        </p:spPr>
        <p:txBody>
          <a:bodyPr wrap="square" rtlCol="0">
            <a:spAutoFit/>
          </a:bodyPr>
          <a:lstStyle/>
          <a:p>
            <a:r>
              <a:rPr lang="en-CA" dirty="0"/>
              <a:t>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2" name="Title 1"/>
          <p:cNvSpPr>
            <a:spLocks noGrp="1"/>
          </p:cNvSpPr>
          <p:nvPr>
            <p:ph type="title"/>
          </p:nvPr>
        </p:nvSpPr>
        <p:spPr>
          <a:xfrm>
            <a:off x="609906" y="702155"/>
            <a:ext cx="3568661" cy="1269713"/>
          </a:xfrm>
        </p:spPr>
        <p:txBody>
          <a:bodyPr>
            <a:normAutofit/>
          </a:bodyPr>
          <a:lstStyle/>
          <a:p>
            <a:pPr>
              <a:lnSpc>
                <a:spcPct val="90000"/>
              </a:lnSpc>
            </a:pPr>
            <a:r>
              <a:t>What is a Recursive Language Model?</a:t>
            </a:r>
            <a:endParaRPr lang="en-CA"/>
          </a:p>
        </p:txBody>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A"/>
          </a:p>
        </p:txBody>
      </p:sp>
      <p:sp>
        <p:nvSpPr>
          <p:cNvPr id="3" name="Content Placeholder 2"/>
          <p:cNvSpPr>
            <a:spLocks noGrp="1"/>
          </p:cNvSpPr>
          <p:nvPr>
            <p:ph idx="1"/>
          </p:nvPr>
        </p:nvSpPr>
        <p:spPr>
          <a:xfrm>
            <a:off x="609906" y="2340864"/>
            <a:ext cx="3568661" cy="3634486"/>
          </a:xfrm>
        </p:spPr>
        <p:txBody>
          <a:bodyPr>
            <a:normAutofit/>
          </a:bodyPr>
          <a:lstStyle/>
          <a:p>
            <a:pPr>
              <a:lnSpc>
                <a:spcPct val="100000"/>
              </a:lnSpc>
            </a:pPr>
            <a:r>
              <a:rPr lang="en-US" sz="1400" dirty="0"/>
              <a:t>A Recursive Language Model is an </a:t>
            </a:r>
            <a:r>
              <a:rPr lang="en-US" sz="1400" b="1" dirty="0"/>
              <a:t>inference-time framework. </a:t>
            </a:r>
            <a:r>
              <a:rPr lang="en-US" sz="1400" dirty="0"/>
              <a:t>It allows a model to recursively call smaller, relevant subsets of data.</a:t>
            </a:r>
          </a:p>
          <a:p>
            <a:pPr>
              <a:lnSpc>
                <a:spcPct val="100000"/>
              </a:lnSpc>
            </a:pPr>
            <a:endParaRPr lang="en-US" sz="1400" dirty="0"/>
          </a:p>
          <a:p>
            <a:pPr>
              <a:lnSpc>
                <a:spcPct val="100000"/>
              </a:lnSpc>
            </a:pPr>
            <a:r>
              <a:rPr lang="en-US" sz="1400" dirty="0"/>
              <a:t>The full context is stored externally, and the model decides what parts to inspect through generated code.</a:t>
            </a:r>
          </a:p>
          <a:p>
            <a:pPr>
              <a:lnSpc>
                <a:spcPct val="100000"/>
              </a:lnSpc>
            </a:pPr>
            <a:endParaRPr lang="en-US" sz="1400" dirty="0"/>
          </a:p>
          <a:p>
            <a:pPr>
              <a:lnSpc>
                <a:spcPct val="100000"/>
              </a:lnSpc>
            </a:pPr>
            <a:r>
              <a:rPr lang="en-US" sz="1400" dirty="0"/>
              <a:t>This enables deliberate decomposition of complex tasks into simpler subproblems.</a:t>
            </a:r>
          </a:p>
        </p:txBody>
      </p:sp>
      <p:pic>
        <p:nvPicPr>
          <p:cNvPr id="5" name="Picture 4">
            <a:extLst>
              <a:ext uri="{FF2B5EF4-FFF2-40B4-BE49-F238E27FC236}">
                <a16:creationId xmlns:a16="http://schemas.microsoft.com/office/drawing/2014/main" id="{8827F067-382C-CC84-47A3-11F43B106354}"/>
              </a:ext>
            </a:extLst>
          </p:cNvPr>
          <p:cNvPicPr>
            <a:picLocks noChangeAspect="1"/>
          </p:cNvPicPr>
          <p:nvPr/>
        </p:nvPicPr>
        <p:blipFill>
          <a:blip r:embed="rId2"/>
          <a:stretch>
            <a:fillRect/>
          </a:stretch>
        </p:blipFill>
        <p:spPr>
          <a:xfrm>
            <a:off x="5998165" y="947898"/>
            <a:ext cx="4514461" cy="5273194"/>
          </a:xfrm>
          <a:prstGeom prst="rect">
            <a:avLst/>
          </a:prstGeom>
        </p:spPr>
      </p:pic>
      <p:sp>
        <p:nvSpPr>
          <p:cNvPr id="6" name="TextBox 5">
            <a:extLst>
              <a:ext uri="{FF2B5EF4-FFF2-40B4-BE49-F238E27FC236}">
                <a16:creationId xmlns:a16="http://schemas.microsoft.com/office/drawing/2014/main" id="{E23573D0-2FFD-F53C-76F5-8F5383B2BF71}"/>
              </a:ext>
            </a:extLst>
          </p:cNvPr>
          <p:cNvSpPr txBox="1"/>
          <p:nvPr/>
        </p:nvSpPr>
        <p:spPr>
          <a:xfrm>
            <a:off x="6653719" y="457200"/>
            <a:ext cx="4328809" cy="307777"/>
          </a:xfrm>
          <a:prstGeom prst="rect">
            <a:avLst/>
          </a:prstGeom>
          <a:noFill/>
        </p:spPr>
        <p:txBody>
          <a:bodyPr wrap="square" rtlCol="0">
            <a:spAutoFit/>
          </a:bodyPr>
          <a:lstStyle/>
          <a:p>
            <a:r>
              <a:rPr lang="en-CA" sz="1400" b="1" dirty="0"/>
              <a:t>Log(2) scale: 2</a:t>
            </a:r>
            <a:r>
              <a:rPr lang="en-CA" sz="1400" b="1" baseline="30000" dirty="0"/>
              <a:t>13</a:t>
            </a:r>
            <a:r>
              <a:rPr lang="en-CA" sz="1400" b="1" dirty="0"/>
              <a:t> is ~8k, 2</a:t>
            </a:r>
            <a:r>
              <a:rPr lang="en-CA" sz="1400" b="1" baseline="30000" dirty="0"/>
              <a:t>18</a:t>
            </a:r>
            <a:r>
              <a:rPr lang="en-CA" sz="1400" b="1" dirty="0"/>
              <a:t> is 262k.</a:t>
            </a:r>
          </a:p>
        </p:txBody>
      </p:sp>
      <p:sp>
        <p:nvSpPr>
          <p:cNvPr id="7" name="TextBox 6">
            <a:extLst>
              <a:ext uri="{FF2B5EF4-FFF2-40B4-BE49-F238E27FC236}">
                <a16:creationId xmlns:a16="http://schemas.microsoft.com/office/drawing/2014/main" id="{94911DBF-DE3A-1546-D561-B10BAB11CDCF}"/>
              </a:ext>
            </a:extLst>
          </p:cNvPr>
          <p:cNvSpPr txBox="1"/>
          <p:nvPr/>
        </p:nvSpPr>
        <p:spPr>
          <a:xfrm>
            <a:off x="457200" y="67502"/>
            <a:ext cx="2412460" cy="369332"/>
          </a:xfrm>
          <a:prstGeom prst="rect">
            <a:avLst/>
          </a:prstGeom>
          <a:noFill/>
        </p:spPr>
        <p:txBody>
          <a:bodyPr wrap="square" rtlCol="0">
            <a:spAutoFit/>
          </a:bodyPr>
          <a:lstStyle/>
          <a:p>
            <a:r>
              <a:rPr lang="en-CA" dirty="0"/>
              <a:t>1. 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1" y="565969"/>
            <a:ext cx="11029616" cy="1188720"/>
          </a:xfrm>
        </p:spPr>
        <p:txBody>
          <a:bodyPr/>
          <a:lstStyle/>
          <a:p>
            <a:r>
              <a:rPr dirty="0"/>
              <a:t>Why Recursion Matters</a:t>
            </a:r>
          </a:p>
        </p:txBody>
      </p:sp>
      <p:sp>
        <p:nvSpPr>
          <p:cNvPr id="3" name="Content Placeholder 2"/>
          <p:cNvSpPr>
            <a:spLocks noGrp="1"/>
          </p:cNvSpPr>
          <p:nvPr>
            <p:ph idx="1"/>
          </p:nvPr>
        </p:nvSpPr>
        <p:spPr/>
        <p:txBody>
          <a:bodyPr>
            <a:normAutofit/>
          </a:bodyPr>
          <a:lstStyle/>
          <a:p>
            <a:endParaRPr lang="en-CA" dirty="0"/>
          </a:p>
          <a:p>
            <a:r>
              <a:rPr lang="en-US" dirty="0"/>
              <a:t>RLMs operate by placing the full input into a persistent environment such as a Python REPL. The model writes code to search, filter, and segment the context before invoking recursive sub calls. Partial outputs are aggregated to form a coherent final answer.</a:t>
            </a:r>
          </a:p>
          <a:p>
            <a:endParaRPr lang="en-US" dirty="0"/>
          </a:p>
          <a:p>
            <a:r>
              <a:rPr dirty="0"/>
              <a:t>Recursion enables models to reason hierarchically instead of processing everything at once.</a:t>
            </a:r>
            <a:r>
              <a:rPr lang="en-CA" dirty="0"/>
              <a:t> </a:t>
            </a:r>
            <a:r>
              <a:rPr dirty="0"/>
              <a:t>This approach improves efficiency by focusing computation only where it is needed.</a:t>
            </a:r>
          </a:p>
          <a:p>
            <a:endParaRPr dirty="0"/>
          </a:p>
          <a:p>
            <a:r>
              <a:rPr dirty="0"/>
              <a:t>As a result, RLMs scale to inputs far beyond traditional context limits.</a:t>
            </a:r>
          </a:p>
        </p:txBody>
      </p:sp>
      <p:sp>
        <p:nvSpPr>
          <p:cNvPr id="4" name="TextBox 3">
            <a:extLst>
              <a:ext uri="{FF2B5EF4-FFF2-40B4-BE49-F238E27FC236}">
                <a16:creationId xmlns:a16="http://schemas.microsoft.com/office/drawing/2014/main" id="{3E72E96E-E411-9F0F-D6B4-FFC74F276C28}"/>
              </a:ext>
            </a:extLst>
          </p:cNvPr>
          <p:cNvSpPr txBox="1"/>
          <p:nvPr/>
        </p:nvSpPr>
        <p:spPr>
          <a:xfrm>
            <a:off x="457200" y="67502"/>
            <a:ext cx="2412460" cy="369332"/>
          </a:xfrm>
          <a:prstGeom prst="rect">
            <a:avLst/>
          </a:prstGeom>
          <a:noFill/>
        </p:spPr>
        <p:txBody>
          <a:bodyPr wrap="square" rtlCol="0">
            <a:spAutoFit/>
          </a:bodyPr>
          <a:lstStyle/>
          <a:p>
            <a:r>
              <a:rPr lang="en-CA" dirty="0"/>
              <a:t>1. 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A3A90-86C1-91AA-E19D-863F85D3F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8D8EA-8D84-E64F-8EDF-FD5304CE5029}"/>
              </a:ext>
            </a:extLst>
          </p:cNvPr>
          <p:cNvSpPr>
            <a:spLocks noGrp="1"/>
          </p:cNvSpPr>
          <p:nvPr>
            <p:ph type="title"/>
          </p:nvPr>
        </p:nvSpPr>
        <p:spPr/>
        <p:txBody>
          <a:bodyPr/>
          <a:lstStyle/>
          <a:p>
            <a:r>
              <a:rPr lang="en-US" dirty="0"/>
              <a:t>OOLONG: Evaluating Long-Context Reasoning</a:t>
            </a:r>
            <a:endParaRPr dirty="0"/>
          </a:p>
        </p:txBody>
      </p:sp>
      <p:sp>
        <p:nvSpPr>
          <p:cNvPr id="4" name="TextBox 3">
            <a:extLst>
              <a:ext uri="{FF2B5EF4-FFF2-40B4-BE49-F238E27FC236}">
                <a16:creationId xmlns:a16="http://schemas.microsoft.com/office/drawing/2014/main" id="{6BBB39DC-6266-8FF6-C097-D59D3DDDEBCD}"/>
              </a:ext>
            </a:extLst>
          </p:cNvPr>
          <p:cNvSpPr txBox="1"/>
          <p:nvPr/>
        </p:nvSpPr>
        <p:spPr>
          <a:xfrm>
            <a:off x="457200" y="67502"/>
            <a:ext cx="2412460" cy="369332"/>
          </a:xfrm>
          <a:prstGeom prst="rect">
            <a:avLst/>
          </a:prstGeom>
          <a:noFill/>
        </p:spPr>
        <p:txBody>
          <a:bodyPr wrap="square" rtlCol="0">
            <a:spAutoFit/>
          </a:bodyPr>
          <a:lstStyle/>
          <a:p>
            <a:r>
              <a:rPr lang="en-CA" dirty="0"/>
              <a:t>2. Evaluation datasets</a:t>
            </a:r>
          </a:p>
        </p:txBody>
      </p:sp>
      <p:sp>
        <p:nvSpPr>
          <p:cNvPr id="6" name="Content Placeholder 5">
            <a:extLst>
              <a:ext uri="{FF2B5EF4-FFF2-40B4-BE49-F238E27FC236}">
                <a16:creationId xmlns:a16="http://schemas.microsoft.com/office/drawing/2014/main" id="{20EC9009-CF3A-37C7-456A-036F3A383B9F}"/>
              </a:ext>
            </a:extLst>
          </p:cNvPr>
          <p:cNvSpPr>
            <a:spLocks noGrp="1"/>
          </p:cNvSpPr>
          <p:nvPr>
            <p:ph idx="1"/>
          </p:nvPr>
        </p:nvSpPr>
        <p:spPr/>
        <p:txBody>
          <a:bodyPr>
            <a:normAutofit/>
          </a:bodyPr>
          <a:lstStyle/>
          <a:p>
            <a:r>
              <a:rPr lang="en-US" b="1" dirty="0"/>
              <a:t>Purpose: </a:t>
            </a:r>
            <a:r>
              <a:rPr lang="en-US" dirty="0"/>
              <a:t>OOLONG benchmarks the ability of large language models (LLMs) to reason over </a:t>
            </a:r>
            <a:r>
              <a:rPr lang="en-US" b="1" dirty="0"/>
              <a:t>very long contexts</a:t>
            </a:r>
            <a:r>
              <a:rPr lang="en-US" dirty="0"/>
              <a:t>, often spanning tens or hundreds of thousands of tokens. It tests how models retain, retrieve, and reason on information distributed throughout the input.</a:t>
            </a:r>
          </a:p>
          <a:p>
            <a:endParaRPr lang="en-US" b="1" dirty="0"/>
          </a:p>
          <a:p>
            <a:r>
              <a:rPr lang="en-US" b="1" dirty="0"/>
              <a:t>Task Design: </a:t>
            </a:r>
            <a:r>
              <a:rPr lang="en-US" dirty="0"/>
              <a:t>Tasks are structured to place critical information at the </a:t>
            </a:r>
            <a:r>
              <a:rPr lang="en-US" b="1" dirty="0"/>
              <a:t>beginning, middle, and end</a:t>
            </a:r>
            <a:r>
              <a:rPr lang="en-US" dirty="0"/>
              <a:t> of prompts. This exposes how well models maintain coherence and recall across varying token positions.</a:t>
            </a:r>
          </a:p>
          <a:p>
            <a:pPr marL="0" indent="0">
              <a:buNone/>
            </a:pPr>
            <a:endParaRPr lang="en-US" dirty="0"/>
          </a:p>
          <a:p>
            <a:r>
              <a:rPr lang="en-US" b="1" dirty="0"/>
              <a:t>Impact: </a:t>
            </a:r>
            <a:r>
              <a:rPr lang="en-US" dirty="0"/>
              <a:t>By stress-testing long-context capabilities, OOLONG informs both </a:t>
            </a:r>
            <a:r>
              <a:rPr lang="en-US" b="1" dirty="0"/>
              <a:t>model architecture choices</a:t>
            </a:r>
            <a:r>
              <a:rPr lang="en-US" dirty="0"/>
              <a:t> and </a:t>
            </a:r>
            <a:r>
              <a:rPr lang="en-US" b="1" dirty="0"/>
              <a:t>training strategies</a:t>
            </a:r>
            <a:r>
              <a:rPr lang="en-US" dirty="0"/>
              <a:t> for real-world applications.</a:t>
            </a:r>
          </a:p>
          <a:p>
            <a:endParaRPr lang="en-CA" dirty="0"/>
          </a:p>
        </p:txBody>
      </p:sp>
    </p:spTree>
    <p:extLst>
      <p:ext uri="{BB962C8B-B14F-4D97-AF65-F5344CB8AC3E}">
        <p14:creationId xmlns:p14="http://schemas.microsoft.com/office/powerpoint/2010/main" val="1359975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EE4BD-CA59-7993-85C6-D7A9FAA53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DE170-D0F3-EC9A-1F34-5C8226C6937C}"/>
              </a:ext>
            </a:extLst>
          </p:cNvPr>
          <p:cNvSpPr>
            <a:spLocks noGrp="1"/>
          </p:cNvSpPr>
          <p:nvPr>
            <p:ph type="title"/>
          </p:nvPr>
        </p:nvSpPr>
        <p:spPr>
          <a:xfrm>
            <a:off x="457200" y="288290"/>
            <a:ext cx="11029616" cy="1188720"/>
          </a:xfrm>
        </p:spPr>
        <p:txBody>
          <a:bodyPr/>
          <a:lstStyle/>
          <a:p>
            <a:r>
              <a:rPr lang="en-CA" dirty="0"/>
              <a:t>OOLONG</a:t>
            </a:r>
            <a:endParaRPr dirty="0"/>
          </a:p>
        </p:txBody>
      </p:sp>
      <p:sp>
        <p:nvSpPr>
          <p:cNvPr id="4" name="TextBox 3">
            <a:extLst>
              <a:ext uri="{FF2B5EF4-FFF2-40B4-BE49-F238E27FC236}">
                <a16:creationId xmlns:a16="http://schemas.microsoft.com/office/drawing/2014/main" id="{43EBACC4-8C99-DEA5-08C7-79485C92E654}"/>
              </a:ext>
            </a:extLst>
          </p:cNvPr>
          <p:cNvSpPr txBox="1"/>
          <p:nvPr/>
        </p:nvSpPr>
        <p:spPr>
          <a:xfrm>
            <a:off x="457200" y="67502"/>
            <a:ext cx="2412460" cy="369332"/>
          </a:xfrm>
          <a:prstGeom prst="rect">
            <a:avLst/>
          </a:prstGeom>
          <a:noFill/>
        </p:spPr>
        <p:txBody>
          <a:bodyPr wrap="square" rtlCol="0">
            <a:spAutoFit/>
          </a:bodyPr>
          <a:lstStyle/>
          <a:p>
            <a:r>
              <a:rPr lang="en-CA" dirty="0"/>
              <a:t>2. Evaluation datasets</a:t>
            </a:r>
          </a:p>
        </p:txBody>
      </p:sp>
      <p:sp>
        <p:nvSpPr>
          <p:cNvPr id="6" name="Content Placeholder 5">
            <a:extLst>
              <a:ext uri="{FF2B5EF4-FFF2-40B4-BE49-F238E27FC236}">
                <a16:creationId xmlns:a16="http://schemas.microsoft.com/office/drawing/2014/main" id="{ACD8D982-7417-3332-6252-EED2D00359C6}"/>
              </a:ext>
            </a:extLst>
          </p:cNvPr>
          <p:cNvSpPr>
            <a:spLocks noGrp="1"/>
          </p:cNvSpPr>
          <p:nvPr>
            <p:ph idx="1"/>
          </p:nvPr>
        </p:nvSpPr>
        <p:spPr>
          <a:xfrm>
            <a:off x="457200" y="1697798"/>
            <a:ext cx="11634281" cy="3634486"/>
          </a:xfrm>
        </p:spPr>
        <p:txBody>
          <a:bodyPr>
            <a:noAutofit/>
          </a:bodyPr>
          <a:lstStyle/>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t>Dataset Variants:</a:t>
            </a:r>
            <a:br>
              <a:rPr lang="en-US" sz="1400" dirty="0"/>
            </a:br>
            <a:r>
              <a:rPr lang="en-US" sz="1400" dirty="0"/>
              <a:t>OOLONG provides both </a:t>
            </a:r>
            <a:r>
              <a:rPr lang="en-US" sz="1400" b="1" dirty="0"/>
              <a:t>real-world (oolong-real)</a:t>
            </a:r>
            <a:r>
              <a:rPr lang="en-US" sz="1400" dirty="0"/>
              <a:t> and </a:t>
            </a:r>
            <a:r>
              <a:rPr lang="en-US" sz="1400" b="1" dirty="0"/>
              <a:t>synthetic (oolong-synth)</a:t>
            </a:r>
            <a:r>
              <a:rPr lang="en-US" sz="1400" dirty="0"/>
              <a:t> datasets to evaluate LLM performance across long-context tasks. Each dataset contains structured columns enabling precise tracking of context, tasks, and outputs.</a:t>
            </a:r>
          </a:p>
          <a:p>
            <a:pPr marL="0" indent="0">
              <a:buNone/>
            </a:pPr>
            <a:endParaRPr lang="en-US" sz="1400" b="1" dirty="0"/>
          </a:p>
          <a:p>
            <a:pPr marL="0" indent="0">
              <a:buNone/>
            </a:pPr>
            <a:r>
              <a:rPr lang="en-US" sz="1400" b="1" dirty="0"/>
              <a:t>Core Columns in oolong-real:</a:t>
            </a:r>
            <a:endParaRPr lang="en-US" sz="1400" dirty="0"/>
          </a:p>
          <a:p>
            <a:r>
              <a:rPr lang="en-US" sz="1400" b="1" dirty="0" err="1"/>
              <a:t>context_window_text</a:t>
            </a:r>
            <a:r>
              <a:rPr lang="en-US" sz="1400" dirty="0"/>
              <a:t>: Text corresponding to the episode, often a long transcript requiring multi-step reasoning.</a:t>
            </a:r>
          </a:p>
          <a:p>
            <a:r>
              <a:rPr lang="en-US" sz="1400" b="1" dirty="0"/>
              <a:t>question and answer</a:t>
            </a:r>
            <a:r>
              <a:rPr lang="en-US" sz="1400" dirty="0"/>
              <a:t>: Question about the transcript and the correct answer for evaluation.</a:t>
            </a:r>
          </a:p>
          <a:p>
            <a:r>
              <a:rPr lang="en-US" sz="1400" b="1" dirty="0" err="1"/>
              <a:t>question_type</a:t>
            </a:r>
            <a:r>
              <a:rPr lang="en-US" sz="1400" dirty="0"/>
              <a:t>: Categorizes task types (e.g., </a:t>
            </a:r>
            <a:r>
              <a:rPr lang="en-US" sz="1400" dirty="0" err="1"/>
              <a:t>singledoc_rolls</a:t>
            </a:r>
            <a:r>
              <a:rPr lang="en-US" sz="1400" dirty="0"/>
              <a:t>) to distinguish reasoning requirements.</a:t>
            </a:r>
          </a:p>
          <a:p>
            <a:r>
              <a:rPr lang="en-US" sz="1400" b="1" dirty="0"/>
              <a:t>episodes / campaign</a:t>
            </a:r>
            <a:r>
              <a:rPr lang="en-US" sz="1400" dirty="0"/>
              <a:t>: Metadata for organizing related episodes into groups or campaigns.</a:t>
            </a:r>
          </a:p>
          <a:p>
            <a:pPr marL="0" indent="0">
              <a:buNone/>
            </a:pPr>
            <a:endParaRPr lang="en-US" sz="1400" b="1" dirty="0"/>
          </a:p>
          <a:p>
            <a:pPr marL="0" indent="0">
              <a:buNone/>
            </a:pPr>
            <a:r>
              <a:rPr lang="en-US" sz="1400" b="1" dirty="0"/>
              <a:t>Core Columns in oolong-synth:</a:t>
            </a:r>
            <a:endParaRPr lang="en-US" sz="1400" dirty="0"/>
          </a:p>
          <a:p>
            <a:r>
              <a:rPr lang="en-US" sz="1400" b="1" dirty="0" err="1"/>
              <a:t>context_len</a:t>
            </a:r>
            <a:r>
              <a:rPr lang="en-US" sz="1400" dirty="0"/>
              <a:t>: Number of tokens in the context window, indicating context size for scaling analysis.</a:t>
            </a:r>
          </a:p>
          <a:p>
            <a:r>
              <a:rPr lang="en-US" sz="1400" b="1" dirty="0"/>
              <a:t>dataset</a:t>
            </a:r>
            <a:r>
              <a:rPr lang="en-US" sz="1400" dirty="0"/>
              <a:t>: Indicates synthetic domain (e.g., spam).</a:t>
            </a:r>
          </a:p>
          <a:p>
            <a:r>
              <a:rPr lang="en-US" sz="1400" b="1" dirty="0" err="1"/>
              <a:t>context_window_text</a:t>
            </a:r>
            <a:r>
              <a:rPr lang="en-US" sz="1400" b="1" dirty="0"/>
              <a:t> / </a:t>
            </a:r>
            <a:r>
              <a:rPr lang="en-US" sz="1400" b="1" dirty="0" err="1"/>
              <a:t>context_window_text_with_labels</a:t>
            </a:r>
            <a:r>
              <a:rPr lang="en-US" sz="1400" dirty="0"/>
              <a:t>: Original text and text with embedded labels for task evaluation.</a:t>
            </a:r>
          </a:p>
          <a:p>
            <a:r>
              <a:rPr lang="en-US" sz="1400" b="1" dirty="0"/>
              <a:t>question / </a:t>
            </a:r>
            <a:r>
              <a:rPr lang="en-US" sz="1400" b="1" dirty="0" err="1"/>
              <a:t>task_group</a:t>
            </a:r>
            <a:r>
              <a:rPr lang="en-US" sz="1400" b="1" dirty="0"/>
              <a:t> / task</a:t>
            </a:r>
            <a:r>
              <a:rPr lang="en-US" sz="1400" dirty="0"/>
              <a:t>: Question to answer, task categorization (counting, retrieval, user tracking), and specific task type.</a:t>
            </a:r>
          </a:p>
          <a:p>
            <a:endParaRPr lang="en-CA" sz="1400" dirty="0"/>
          </a:p>
        </p:txBody>
      </p:sp>
    </p:spTree>
    <p:extLst>
      <p:ext uri="{BB962C8B-B14F-4D97-AF65-F5344CB8AC3E}">
        <p14:creationId xmlns:p14="http://schemas.microsoft.com/office/powerpoint/2010/main" val="2046470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1E73F-AD6C-B231-4AFB-EF5D70722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81866-8083-BD06-4636-B7AE4E54CA5A}"/>
              </a:ext>
            </a:extLst>
          </p:cNvPr>
          <p:cNvSpPr>
            <a:spLocks noGrp="1"/>
          </p:cNvSpPr>
          <p:nvPr>
            <p:ph type="title"/>
          </p:nvPr>
        </p:nvSpPr>
        <p:spPr>
          <a:xfrm>
            <a:off x="457199" y="848070"/>
            <a:ext cx="11029616" cy="1188720"/>
          </a:xfrm>
        </p:spPr>
        <p:txBody>
          <a:bodyPr/>
          <a:lstStyle/>
          <a:p>
            <a:r>
              <a:rPr lang="en-CA" dirty="0"/>
              <a:t>QWEN fine-tuning</a:t>
            </a:r>
            <a:endParaRPr dirty="0"/>
          </a:p>
        </p:txBody>
      </p:sp>
      <p:sp>
        <p:nvSpPr>
          <p:cNvPr id="4" name="TextBox 3">
            <a:extLst>
              <a:ext uri="{FF2B5EF4-FFF2-40B4-BE49-F238E27FC236}">
                <a16:creationId xmlns:a16="http://schemas.microsoft.com/office/drawing/2014/main" id="{15907ED2-D6D2-0AF9-1154-AFD696F7F662}"/>
              </a:ext>
            </a:extLst>
          </p:cNvPr>
          <p:cNvSpPr txBox="1"/>
          <p:nvPr/>
        </p:nvSpPr>
        <p:spPr>
          <a:xfrm>
            <a:off x="457200" y="67502"/>
            <a:ext cx="4756826" cy="369332"/>
          </a:xfrm>
          <a:prstGeom prst="rect">
            <a:avLst/>
          </a:prstGeom>
          <a:noFill/>
        </p:spPr>
        <p:txBody>
          <a:bodyPr wrap="square" rtlCol="0">
            <a:spAutoFit/>
          </a:bodyPr>
          <a:lstStyle/>
          <a:p>
            <a:r>
              <a:rPr lang="en-CA" dirty="0"/>
              <a:t>3. Fine-tuning for RLM (Qwen models)</a:t>
            </a:r>
          </a:p>
        </p:txBody>
      </p:sp>
      <p:sp>
        <p:nvSpPr>
          <p:cNvPr id="6" name="Content Placeholder 5">
            <a:extLst>
              <a:ext uri="{FF2B5EF4-FFF2-40B4-BE49-F238E27FC236}">
                <a16:creationId xmlns:a16="http://schemas.microsoft.com/office/drawing/2014/main" id="{0B1A7547-CDFF-5D2B-A417-8F54EAB625D2}"/>
              </a:ext>
            </a:extLst>
          </p:cNvPr>
          <p:cNvSpPr>
            <a:spLocks noGrp="1"/>
          </p:cNvSpPr>
          <p:nvPr>
            <p:ph idx="1"/>
          </p:nvPr>
        </p:nvSpPr>
        <p:spPr>
          <a:xfrm>
            <a:off x="457200" y="2749425"/>
            <a:ext cx="11029615" cy="3634486"/>
          </a:xfrm>
        </p:spPr>
        <p:txBody>
          <a:bodyPr>
            <a:noAutofit/>
          </a:bodyPr>
          <a:lstStyle/>
          <a:p>
            <a:r>
              <a:rPr lang="en-US" sz="1400" dirty="0"/>
              <a:t>Objective: Fine‑tune Qwen3‑8B so it behaves effectively as a </a:t>
            </a:r>
            <a:r>
              <a:rPr lang="en-US" sz="1400" i="1" dirty="0"/>
              <a:t>recursive language model</a:t>
            </a:r>
            <a:r>
              <a:rPr lang="en-US" sz="1400" dirty="0"/>
              <a:t> (RLM), meaning it can </a:t>
            </a:r>
            <a:r>
              <a:rPr lang="en-US" sz="1400" b="1" dirty="0"/>
              <a:t>write code to navigate and recurse over long inputs within a Python REPL environment</a:t>
            </a:r>
          </a:p>
          <a:p>
            <a:endParaRPr lang="en-US" sz="1400" b="1" dirty="0"/>
          </a:p>
          <a:p>
            <a:pPr marL="0" indent="0">
              <a:buNone/>
            </a:pPr>
            <a:r>
              <a:rPr lang="en-US" sz="1400" b="1" dirty="0"/>
              <a:t>Training Data:</a:t>
            </a:r>
            <a:endParaRPr lang="en-US" sz="1400" dirty="0"/>
          </a:p>
          <a:p>
            <a:r>
              <a:rPr lang="en-US" sz="1400" dirty="0"/>
              <a:t>Started with </a:t>
            </a:r>
            <a:r>
              <a:rPr lang="en-US" sz="1400" b="1" dirty="0"/>
              <a:t>trajectories from a much larger model (Qwen3‑Coder‑480B‑A35B)</a:t>
            </a:r>
            <a:r>
              <a:rPr lang="en-US" sz="1400" dirty="0"/>
              <a:t> acting as an RLM on tasks from the </a:t>
            </a:r>
            <a:r>
              <a:rPr lang="en-US" sz="1400" i="1" dirty="0" err="1"/>
              <a:t>LongBenchPro</a:t>
            </a:r>
            <a:r>
              <a:rPr lang="en-US" sz="1400" dirty="0"/>
              <a:t> benchmark.</a:t>
            </a:r>
          </a:p>
          <a:p>
            <a:r>
              <a:rPr lang="en-US" sz="1400" dirty="0"/>
              <a:t>Collected many candidate runs, then filtered these to ~1,000 high‑quality examples . Only trajectories where the model made meaningful recursive calls were selected. </a:t>
            </a:r>
          </a:p>
          <a:p>
            <a:pPr marL="0" indent="0">
              <a:buNone/>
            </a:pPr>
            <a:endParaRPr lang="en-US" sz="1400" b="1" dirty="0"/>
          </a:p>
          <a:p>
            <a:pPr marL="0" indent="0">
              <a:buNone/>
            </a:pPr>
            <a:r>
              <a:rPr lang="en-US" sz="1400" b="1" dirty="0"/>
              <a:t>Key Insights:</a:t>
            </a:r>
            <a:endParaRPr lang="en-US" sz="1400" dirty="0"/>
          </a:p>
          <a:p>
            <a:r>
              <a:rPr lang="en-US" sz="1400" dirty="0"/>
              <a:t>Being a </a:t>
            </a:r>
            <a:r>
              <a:rPr lang="en-US" sz="1400" i="1" dirty="0"/>
              <a:t>good sub‑call model</a:t>
            </a:r>
            <a:r>
              <a:rPr lang="en-US" sz="1400" dirty="0"/>
              <a:t> (i.e., one that can handle recursive calls and manipulate the REPL) is similar to being a </a:t>
            </a:r>
            <a:r>
              <a:rPr lang="en-US" sz="1400" i="1" dirty="0"/>
              <a:t>general reasoning model</a:t>
            </a:r>
            <a:r>
              <a:rPr lang="en-US" sz="1400" dirty="0"/>
              <a:t>.</a:t>
            </a:r>
          </a:p>
          <a:p>
            <a:r>
              <a:rPr lang="en-US" sz="1400" b="1" dirty="0"/>
              <a:t>Hence, fine‑tuning is focused on improving the root model’s ability to generate valid RLM code and recursive sub‑calls.</a:t>
            </a:r>
            <a:r>
              <a:rPr lang="en-US" sz="1400" dirty="0"/>
              <a:t> </a:t>
            </a:r>
          </a:p>
          <a:p>
            <a:endParaRPr lang="en-CA" sz="1400" dirty="0"/>
          </a:p>
        </p:txBody>
      </p:sp>
    </p:spTree>
    <p:extLst>
      <p:ext uri="{BB962C8B-B14F-4D97-AF65-F5344CB8AC3E}">
        <p14:creationId xmlns:p14="http://schemas.microsoft.com/office/powerpoint/2010/main" val="1478293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F070-3488-32C3-E767-F52DEAADD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AF293-0FDF-A993-9313-948198E4F8A0}"/>
              </a:ext>
            </a:extLst>
          </p:cNvPr>
          <p:cNvSpPr>
            <a:spLocks noGrp="1"/>
          </p:cNvSpPr>
          <p:nvPr>
            <p:ph type="title"/>
          </p:nvPr>
        </p:nvSpPr>
        <p:spPr>
          <a:xfrm>
            <a:off x="457199" y="370363"/>
            <a:ext cx="11029616" cy="1188720"/>
          </a:xfrm>
        </p:spPr>
        <p:txBody>
          <a:bodyPr/>
          <a:lstStyle/>
          <a:p>
            <a:r>
              <a:rPr lang="en-CA" dirty="0"/>
              <a:t>QWEN fine-tuning</a:t>
            </a:r>
            <a:endParaRPr dirty="0"/>
          </a:p>
        </p:txBody>
      </p:sp>
      <p:sp>
        <p:nvSpPr>
          <p:cNvPr id="4" name="TextBox 3">
            <a:extLst>
              <a:ext uri="{FF2B5EF4-FFF2-40B4-BE49-F238E27FC236}">
                <a16:creationId xmlns:a16="http://schemas.microsoft.com/office/drawing/2014/main" id="{33D9BA0E-0D85-784F-E303-AC44A831408C}"/>
              </a:ext>
            </a:extLst>
          </p:cNvPr>
          <p:cNvSpPr txBox="1"/>
          <p:nvPr/>
        </p:nvSpPr>
        <p:spPr>
          <a:xfrm>
            <a:off x="457200" y="67502"/>
            <a:ext cx="4756826" cy="369332"/>
          </a:xfrm>
          <a:prstGeom prst="rect">
            <a:avLst/>
          </a:prstGeom>
          <a:noFill/>
        </p:spPr>
        <p:txBody>
          <a:bodyPr wrap="square" rtlCol="0">
            <a:spAutoFit/>
          </a:bodyPr>
          <a:lstStyle/>
          <a:p>
            <a:r>
              <a:rPr lang="en-CA" dirty="0"/>
              <a:t>3. Fine-tuning for RLM (Qwen models)</a:t>
            </a:r>
          </a:p>
        </p:txBody>
      </p:sp>
      <p:sp>
        <p:nvSpPr>
          <p:cNvPr id="6" name="Content Placeholder 5">
            <a:extLst>
              <a:ext uri="{FF2B5EF4-FFF2-40B4-BE49-F238E27FC236}">
                <a16:creationId xmlns:a16="http://schemas.microsoft.com/office/drawing/2014/main" id="{BE33EFEE-168A-1B1E-B37F-540FF7A56A28}"/>
              </a:ext>
            </a:extLst>
          </p:cNvPr>
          <p:cNvSpPr>
            <a:spLocks noGrp="1"/>
          </p:cNvSpPr>
          <p:nvPr>
            <p:ph idx="1"/>
          </p:nvPr>
        </p:nvSpPr>
        <p:spPr>
          <a:xfrm>
            <a:off x="457200" y="2681332"/>
            <a:ext cx="11029615" cy="3634486"/>
          </a:xfrm>
        </p:spPr>
        <p:txBody>
          <a:bodyPr>
            <a:noAutofit/>
          </a:bodyPr>
          <a:lstStyle/>
          <a:p>
            <a:r>
              <a:rPr lang="en-US" sz="1400" b="1" dirty="0"/>
              <a:t>Filtering &amp; Preprocessing:: </a:t>
            </a:r>
            <a:r>
              <a:rPr lang="en-US" sz="1400" dirty="0"/>
              <a:t>Original RLM trajectories had various mistakes (e.g., incorrect FINAL(answer) use or wrong variable calls). Researchers applied </a:t>
            </a:r>
            <a:r>
              <a:rPr lang="en-US" sz="1400" b="1" dirty="0"/>
              <a:t>programmatic cleaning steps</a:t>
            </a:r>
            <a:r>
              <a:rPr lang="en-US" sz="1400" dirty="0"/>
              <a:t> to fix template errors before fine‑tuning. </a:t>
            </a:r>
          </a:p>
          <a:p>
            <a:endParaRPr lang="en-US" sz="1400" b="1" dirty="0"/>
          </a:p>
          <a:p>
            <a:pPr marL="0" indent="0">
              <a:buNone/>
            </a:pPr>
            <a:r>
              <a:rPr lang="en-US" sz="1400" b="1" dirty="0"/>
              <a:t>Training Setup:</a:t>
            </a:r>
            <a:endParaRPr lang="en-US" sz="1400" dirty="0"/>
          </a:p>
          <a:p>
            <a:r>
              <a:rPr lang="en-US" sz="1400" dirty="0"/>
              <a:t>Fine‑tuning used the cleaned trajectory dataset as supervised examples.</a:t>
            </a:r>
          </a:p>
          <a:p>
            <a:r>
              <a:rPr lang="en-US" sz="1400" dirty="0"/>
              <a:t>Each example pairs an RLM </a:t>
            </a:r>
            <a:r>
              <a:rPr lang="en-US" sz="1400" i="1" dirty="0"/>
              <a:t>history</a:t>
            </a:r>
            <a:r>
              <a:rPr lang="en-US" sz="1400" dirty="0"/>
              <a:t> (input + REPL state) with the correct </a:t>
            </a:r>
            <a:r>
              <a:rPr lang="en-US" sz="1400" i="1" dirty="0"/>
              <a:t>code</a:t>
            </a:r>
            <a:r>
              <a:rPr lang="en-US" sz="1400" dirty="0"/>
              <a:t> the RLM should emit at that step.</a:t>
            </a:r>
          </a:p>
          <a:p>
            <a:r>
              <a:rPr lang="en-US" sz="1400" dirty="0"/>
              <a:t>A simple training schedule (~300 steps, modest batch size) was enough to yield large gains at this scale (with ~48 hours on high‑end GPUs like H100). </a:t>
            </a:r>
          </a:p>
          <a:p>
            <a:pPr marL="0" indent="0">
              <a:buNone/>
            </a:pPr>
            <a:endParaRPr lang="en-US" sz="1400" b="1" dirty="0"/>
          </a:p>
          <a:p>
            <a:pPr marL="0" indent="0">
              <a:buNone/>
            </a:pPr>
            <a:r>
              <a:rPr lang="en-US" sz="1400" b="1" dirty="0"/>
              <a:t>Outcome:</a:t>
            </a:r>
            <a:endParaRPr lang="en-US" sz="1400" dirty="0"/>
          </a:p>
          <a:p>
            <a:r>
              <a:rPr lang="en-US" sz="1400" dirty="0"/>
              <a:t>The fine‑tuned model (</a:t>
            </a:r>
            <a:r>
              <a:rPr lang="en-US" sz="1400" b="1" dirty="0"/>
              <a:t>RLM‑Qwen3‑8B</a:t>
            </a:r>
            <a:r>
              <a:rPr lang="en-US" sz="1400" dirty="0"/>
              <a:t>) significantly improves performance on long‑context tasks compared to vanilla Qwen3‑8B (~+28% median).</a:t>
            </a:r>
          </a:p>
          <a:p>
            <a:r>
              <a:rPr lang="en-US" sz="1400" dirty="0"/>
              <a:t>It becomes much better at inspecting the REPL, making sub‑queries, and assembling recursive reasoning patterns — </a:t>
            </a:r>
            <a:r>
              <a:rPr lang="en-US" sz="1400" i="1" dirty="0"/>
              <a:t>without being trained on huge extra corpora</a:t>
            </a:r>
            <a:r>
              <a:rPr lang="en-US" sz="1400" dirty="0"/>
              <a:t>.</a:t>
            </a:r>
          </a:p>
          <a:p>
            <a:endParaRPr lang="en-CA" sz="1400" dirty="0"/>
          </a:p>
        </p:txBody>
      </p:sp>
    </p:spTree>
    <p:extLst>
      <p:ext uri="{BB962C8B-B14F-4D97-AF65-F5344CB8AC3E}">
        <p14:creationId xmlns:p14="http://schemas.microsoft.com/office/powerpoint/2010/main" val="88334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3494697" cy="1188720"/>
          </a:xfrm>
        </p:spPr>
        <p:txBody>
          <a:bodyPr/>
          <a:lstStyle/>
          <a:p>
            <a:r>
              <a:rPr dirty="0"/>
              <a:t>Applying RLMs to Vision Models</a:t>
            </a:r>
          </a:p>
        </p:txBody>
      </p:sp>
      <p:sp>
        <p:nvSpPr>
          <p:cNvPr id="4" name="TextBox 3">
            <a:extLst>
              <a:ext uri="{FF2B5EF4-FFF2-40B4-BE49-F238E27FC236}">
                <a16:creationId xmlns:a16="http://schemas.microsoft.com/office/drawing/2014/main" id="{81C65197-8A3B-E7EF-605E-F47688B9710F}"/>
              </a:ext>
            </a:extLst>
          </p:cNvPr>
          <p:cNvSpPr txBox="1"/>
          <p:nvPr/>
        </p:nvSpPr>
        <p:spPr>
          <a:xfrm>
            <a:off x="457200" y="67502"/>
            <a:ext cx="2412460" cy="369332"/>
          </a:xfrm>
          <a:prstGeom prst="rect">
            <a:avLst/>
          </a:prstGeom>
          <a:noFill/>
        </p:spPr>
        <p:txBody>
          <a:bodyPr wrap="square" rtlCol="0">
            <a:spAutoFit/>
          </a:bodyPr>
          <a:lstStyle/>
          <a:p>
            <a:r>
              <a:rPr lang="en-CA" dirty="0"/>
              <a:t>4. Vision models</a:t>
            </a:r>
          </a:p>
        </p:txBody>
      </p:sp>
      <p:pic>
        <p:nvPicPr>
          <p:cNvPr id="6" name="Picture 5">
            <a:extLst>
              <a:ext uri="{FF2B5EF4-FFF2-40B4-BE49-F238E27FC236}">
                <a16:creationId xmlns:a16="http://schemas.microsoft.com/office/drawing/2014/main" id="{0FB1D726-8E91-2995-D414-B01B9F557C76}"/>
              </a:ext>
            </a:extLst>
          </p:cNvPr>
          <p:cNvPicPr>
            <a:picLocks noChangeAspect="1"/>
          </p:cNvPicPr>
          <p:nvPr/>
        </p:nvPicPr>
        <p:blipFill>
          <a:blip r:embed="rId2"/>
          <a:stretch>
            <a:fillRect/>
          </a:stretch>
        </p:blipFill>
        <p:spPr>
          <a:xfrm>
            <a:off x="4274460" y="515430"/>
            <a:ext cx="7174995" cy="60604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Implications &amp; Future Work</a:t>
            </a:r>
          </a:p>
        </p:txBody>
      </p:sp>
      <p:sp>
        <p:nvSpPr>
          <p:cNvPr id="3" name="Content Placeholder 2"/>
          <p:cNvSpPr>
            <a:spLocks noGrp="1"/>
          </p:cNvSpPr>
          <p:nvPr>
            <p:ph idx="1"/>
          </p:nvPr>
        </p:nvSpPr>
        <p:spPr/>
        <p:txBody>
          <a:bodyPr/>
          <a:lstStyle/>
          <a:p>
            <a:r>
              <a:t>RLMs challenge the assumption that larger context windows are the primary solution to long-context reasoning.</a:t>
            </a:r>
          </a:p>
          <a:p>
            <a:endParaRPr/>
          </a:p>
          <a:p>
            <a:r>
              <a:t>They suggest a future of program-guided, recursive perception across modalities.</a:t>
            </a:r>
          </a:p>
          <a:p>
            <a:endParaRPr/>
          </a:p>
          <a:p>
            <a:r>
              <a:t>This approach has strong implications for multimodal AI and long-horizon reasoning systems.</a:t>
            </a:r>
          </a:p>
        </p:txBody>
      </p:sp>
      <p:sp>
        <p:nvSpPr>
          <p:cNvPr id="4" name="TextBox 3">
            <a:extLst>
              <a:ext uri="{FF2B5EF4-FFF2-40B4-BE49-F238E27FC236}">
                <a16:creationId xmlns:a16="http://schemas.microsoft.com/office/drawing/2014/main" id="{6CF3B50F-412E-44A8-0A39-3AA5A32B9601}"/>
              </a:ext>
            </a:extLst>
          </p:cNvPr>
          <p:cNvSpPr txBox="1"/>
          <p:nvPr/>
        </p:nvSpPr>
        <p:spPr>
          <a:xfrm>
            <a:off x="457200" y="67502"/>
            <a:ext cx="2412460" cy="369332"/>
          </a:xfrm>
          <a:prstGeom prst="rect">
            <a:avLst/>
          </a:prstGeom>
          <a:noFill/>
        </p:spPr>
        <p:txBody>
          <a:bodyPr wrap="square" rtlCol="0">
            <a:spAutoFit/>
          </a:bodyPr>
          <a:lstStyle/>
          <a:p>
            <a:r>
              <a:rPr lang="en-CA" dirty="0"/>
              <a:t>5. Conclusion</a:t>
            </a: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{83532AD1-67F4-4E4E-B912-78851A0A2A21}TF201209c3-d067-44f9-a26f-c8f216c4431347f6cf9d_win32-4021059b889a</Template>
  <TotalTime>129</TotalTime>
  <Words>1071</Words>
  <Application>Microsoft Office PowerPoint</Application>
  <PresentationFormat>Widescreen</PresentationFormat>
  <Paragraphs>87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Franklin Gothic Book</vt:lpstr>
      <vt:lpstr>Franklin Gothic Demi</vt:lpstr>
      <vt:lpstr>Wingdings 2</vt:lpstr>
      <vt:lpstr>DividendVTI</vt:lpstr>
      <vt:lpstr>Recursive language models</vt:lpstr>
      <vt:lpstr>Motivation: context rot</vt:lpstr>
      <vt:lpstr>What is a Recursive Language Model?</vt:lpstr>
      <vt:lpstr>Why Recursion Matters</vt:lpstr>
      <vt:lpstr>OOLONG: Evaluating Long-Context Reasoning</vt:lpstr>
      <vt:lpstr>OOLONG</vt:lpstr>
      <vt:lpstr>QWEN fine-tuning</vt:lpstr>
      <vt:lpstr>QWEN fine-tuning</vt:lpstr>
      <vt:lpstr>Applying RLMs to Vision Models</vt:lpstr>
      <vt:lpstr>Implications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Navita Singh</dc:creator>
  <cp:lastModifiedBy>Navita Singh</cp:lastModifiedBy>
  <cp:revision>12</cp:revision>
  <dcterms:created xsi:type="dcterms:W3CDTF">2026-02-14T19:09:56Z</dcterms:created>
  <dcterms:modified xsi:type="dcterms:W3CDTF">2026-02-16T01:57:48Z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